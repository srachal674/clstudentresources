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notesMasterIdLst>
    <p:notesMasterId r:id="rId9"/>
  </p:notes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38" autoAdjust="0"/>
    <p:restoredTop sz="80738" autoAdjust="0"/>
  </p:normalViewPr>
  <p:slideViewPr>
    <p:cSldViewPr snapToGrid="0">
      <p:cViewPr varScale="1">
        <p:scale>
          <a:sx n="65" d="100"/>
          <a:sy n="65" d="100"/>
        </p:scale>
        <p:origin x="229" y="3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190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88C43-E4A9-48D0-8097-37A17D5608D0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C5CA20-2754-4D6A-9136-5371697BC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318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5CA20-2754-4D6A-9136-5371697BC44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049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C5CA20-2754-4D6A-9136-5371697BC4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0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2D54ACA7-778A-4989-81E0-D6E59419B8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Freeform 6" title="Page Number Shape"/>
          <p:cNvSpPr/>
          <p:nvPr/>
        </p:nvSpPr>
        <p:spPr bwMode="auto">
          <a:xfrm>
            <a:off x="8736012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6685" y="1143294"/>
            <a:ext cx="527577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58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6685" y="5537926"/>
            <a:ext cx="527577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1800" b="0" i="1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6685" y="6314441"/>
            <a:ext cx="1197467" cy="365125"/>
          </a:xfrm>
        </p:spPr>
        <p:txBody>
          <a:bodyPr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50444" y="6314441"/>
            <a:ext cx="3842012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6012" y="1416217"/>
            <a:ext cx="407987" cy="365125"/>
          </a:xfrm>
        </p:spPr>
        <p:txBody>
          <a:bodyPr/>
          <a:lstStyle>
            <a:lvl1pPr algn="r">
              <a:defRPr>
                <a:solidFill>
                  <a:schemeClr val="accent1"/>
                </a:solidFill>
              </a:defRPr>
            </a:lvl1pPr>
          </a:lstStyle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580391" y="1257300"/>
            <a:ext cx="0" cy="560070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0391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983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9BD8925A-D3A5-46F5-9137-C7AF7CA32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47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>
            <a:extLst>
              <a:ext uri="{FF2B5EF4-FFF2-40B4-BE49-F238E27FC236}">
                <a16:creationId xmlns:a16="http://schemas.microsoft.com/office/drawing/2014/main" id="{5ED3EF82-0699-4957-AFA3-BBCC9D2F2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Freeform 11" title="Page Number Shape"/>
          <p:cNvSpPr/>
          <p:nvPr/>
        </p:nvSpPr>
        <p:spPr bwMode="auto">
          <a:xfrm>
            <a:off x="8736012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0755" y="2571723"/>
            <a:ext cx="6222491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58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755" y="1393748"/>
            <a:ext cx="6301072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1800" b="0" i="1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7216" y="6314440"/>
            <a:ext cx="1197467" cy="365125"/>
          </a:xfrm>
        </p:spPr>
        <p:txBody>
          <a:bodyPr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60755" y="6314441"/>
            <a:ext cx="4860170" cy="365125"/>
          </a:xfrm>
        </p:spPr>
        <p:txBody>
          <a:bodyPr/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6012" y="1620761"/>
            <a:ext cx="407987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1" y="6178167"/>
            <a:ext cx="7683245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1" y="6178167"/>
            <a:ext cx="7683245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329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  <p15:guide id="0" pos="484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A9BD509C-E7C7-4DD0-B4EC-F0C504A6F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6200" y="540628"/>
            <a:ext cx="4686300" cy="2488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6200" y="3712467"/>
            <a:ext cx="4686300" cy="2482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7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3EACF011-2CA8-423A-B622-8661832B3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557784"/>
            <a:ext cx="2873502" cy="49560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558065"/>
            <a:ext cx="4690872" cy="913212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6200" y="1526122"/>
            <a:ext cx="4690872" cy="1751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6200" y="3700828"/>
            <a:ext cx="4690872" cy="913759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86200" y="4669432"/>
            <a:ext cx="4690872" cy="1752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6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29EC32D-74A1-4458-93E5-67968723A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27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AA78068D-D28A-44C1-93DC-CF16C3E1C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13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555479"/>
            <a:ext cx="2879082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564147"/>
            <a:ext cx="46863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2621513"/>
            <a:ext cx="2879082" cy="3239537"/>
          </a:xfrm>
        </p:spPr>
        <p:txBody>
          <a:bodyPr>
            <a:normAutofit/>
          </a:bodyPr>
          <a:lstStyle>
            <a:lvl1pPr marL="0" indent="0" algn="r">
              <a:lnSpc>
                <a:spcPct val="125000"/>
              </a:lnSpc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13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A288925-A832-4ABA-BE80-BC7B9E2E6C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1" y="557262"/>
            <a:ext cx="2882528" cy="1919239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30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43350" y="1"/>
            <a:ext cx="4629150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1" y="2621512"/>
            <a:ext cx="2882528" cy="3236976"/>
          </a:xfrm>
        </p:spPr>
        <p:txBody>
          <a:bodyPr>
            <a:normAutofit/>
          </a:bodyPr>
          <a:lstStyle>
            <a:lvl1pPr marL="0" indent="0" algn="r">
              <a:lnSpc>
                <a:spcPct val="125000"/>
              </a:lnSpc>
              <a:spcBef>
                <a:spcPts val="1200"/>
              </a:spcBef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22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1F170068-AB5A-483D-93E9-6CF6E8919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6200" y="640080"/>
            <a:ext cx="4686299" cy="55841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58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14802024-E3F0-42DD-8064-38905D65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19446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Freeform 6" title="Page Number Shape"/>
          <p:cNvSpPr/>
          <p:nvPr/>
        </p:nvSpPr>
        <p:spPr bwMode="auto">
          <a:xfrm>
            <a:off x="8736012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93074" y="642931"/>
            <a:ext cx="1835003" cy="467810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642933"/>
            <a:ext cx="5303009" cy="46781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02140" y="5927132"/>
            <a:ext cx="2861142" cy="365125"/>
          </a:xfrm>
        </p:spPr>
        <p:txBody>
          <a:bodyPr/>
          <a:lstStyle/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902140" y="6315950"/>
            <a:ext cx="28611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6012" y="5607593"/>
            <a:ext cx="407987" cy="365125"/>
          </a:xfrm>
        </p:spPr>
        <p:txBody>
          <a:bodyPr/>
          <a:lstStyle/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1" y="6199730"/>
            <a:ext cx="7695008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" y="6199730"/>
            <a:ext cx="7695008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981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  <p15:guide id="0" pos="484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8736012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0" y="559678"/>
            <a:ext cx="2875430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569066"/>
            <a:ext cx="4686299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1" y="5930061"/>
            <a:ext cx="286114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1" baseline="0">
                <a:solidFill>
                  <a:schemeClr val="accent1"/>
                </a:solidFill>
                <a:latin typeface="+mj-lt"/>
              </a:defRPr>
            </a:lvl1pPr>
          </a:lstStyle>
          <a:p>
            <a:fld id="{7C08E117-55EC-4102-96D8-66CEA43FCDAE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1501" y="6314441"/>
            <a:ext cx="286114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 b="1" i="1" baseline="0">
                <a:solidFill>
                  <a:schemeClr val="accent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012" y="5607593"/>
            <a:ext cx="4079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EEF8F5EC-0777-4861-AF92-FCE6CC51E3F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99730"/>
            <a:ext cx="337185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0" y="6199730"/>
            <a:ext cx="337185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166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800" b="0" i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6858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6858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6858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6858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6858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685800" rtl="0" eaLnBrk="1" latinLnBrk="0" hangingPunct="1">
        <a:lnSpc>
          <a:spcPct val="112000"/>
        </a:lnSpc>
        <a:spcBef>
          <a:spcPts val="975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685800" rtl="0" eaLnBrk="1" latinLnBrk="0" hangingPunct="1">
        <a:lnSpc>
          <a:spcPct val="112000"/>
        </a:lnSpc>
        <a:spcBef>
          <a:spcPts val="975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685800" rtl="0" eaLnBrk="1" latinLnBrk="0" hangingPunct="1">
        <a:lnSpc>
          <a:spcPct val="112000"/>
        </a:lnSpc>
        <a:spcBef>
          <a:spcPts val="975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12598" algn="l" defTabSz="685800" rtl="0" eaLnBrk="1" latinLnBrk="0" hangingPunct="1">
        <a:lnSpc>
          <a:spcPct val="112000"/>
        </a:lnSpc>
        <a:spcBef>
          <a:spcPts val="975"/>
        </a:spcBef>
        <a:buFont typeface="Arial" panose="020B0604020202020204" pitchFamily="34" charset="0"/>
        <a:buChar char="•"/>
        <a:defRPr sz="105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pos="7200">
          <p15:clr>
            <a:srgbClr val="F26B43"/>
          </p15:clr>
        </p15:guide>
        <p15:guide id="4" pos="3264">
          <p15:clr>
            <a:srgbClr val="F26B43"/>
          </p15:clr>
        </p15:guide>
        <p15:guide id="0" pos="2124">
          <p15:clr>
            <a:srgbClr val="F26B43"/>
          </p15:clr>
        </p15:guide>
        <p15:guide id="5" pos="360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pos="5400">
          <p15:clr>
            <a:srgbClr val="F26B43"/>
          </p15:clr>
        </p15:guide>
        <p15:guide id="8" pos="24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F1C2-0397-4664-87BC-26A032882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84" y="1143294"/>
            <a:ext cx="6803315" cy="4268965"/>
          </a:xfrm>
        </p:spPr>
        <p:txBody>
          <a:bodyPr/>
          <a:lstStyle/>
          <a:p>
            <a:r>
              <a:rPr lang="en-US" dirty="0"/>
              <a:t>ACME Corporation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8F7A5-8BDC-485D-AC4E-DE6962B12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685" y="4511040"/>
            <a:ext cx="5275772" cy="1733241"/>
          </a:xfrm>
        </p:spPr>
        <p:txBody>
          <a:bodyPr>
            <a:normAutofit/>
          </a:bodyPr>
          <a:lstStyle/>
          <a:p>
            <a:r>
              <a:rPr lang="en-US" sz="3200" dirty="0"/>
              <a:t>Regional Sales Meeting</a:t>
            </a:r>
            <a:br>
              <a:rPr lang="en-US" sz="3200" dirty="0"/>
            </a:br>
            <a:r>
              <a:rPr lang="en-US" sz="3200" dirty="0"/>
              <a:t>June 15</a:t>
            </a:r>
          </a:p>
        </p:txBody>
      </p:sp>
    </p:spTree>
    <p:extLst>
      <p:ext uri="{BB962C8B-B14F-4D97-AF65-F5344CB8AC3E}">
        <p14:creationId xmlns:p14="http://schemas.microsoft.com/office/powerpoint/2010/main" val="1847064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513DF-4704-46FA-A547-46B4BCF5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D0466-123E-415B-8F05-EA0814B44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Divisions</a:t>
            </a:r>
          </a:p>
          <a:p>
            <a:r>
              <a:rPr lang="en-US" dirty="0"/>
              <a:t>New </a:t>
            </a:r>
            <a:r>
              <a:rPr lang="en-US" dirty="0" err="1"/>
              <a:t>New</a:t>
            </a:r>
            <a:r>
              <a:rPr lang="en-US" dirty="0"/>
              <a:t> Products</a:t>
            </a:r>
          </a:p>
          <a:p>
            <a:r>
              <a:rPr lang="en-US" dirty="0"/>
              <a:t>Challenges</a:t>
            </a:r>
          </a:p>
          <a:p>
            <a:r>
              <a:rPr lang="en-US" dirty="0"/>
              <a:t>Sales Data</a:t>
            </a:r>
          </a:p>
          <a:p>
            <a:r>
              <a:rPr lang="en-US" dirty="0"/>
              <a:t>Strategic Plan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334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5EDF-3A9A-4E39-B97E-BC7A3A2B7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28055-BB76-4D9C-8C38-909200FDE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Sales</a:t>
            </a:r>
          </a:p>
          <a:p>
            <a:pPr lvl="1"/>
            <a:r>
              <a:rPr lang="en-US" dirty="0"/>
              <a:t>Inside Sales</a:t>
            </a:r>
          </a:p>
          <a:p>
            <a:pPr lvl="1"/>
            <a:r>
              <a:rPr lang="en-US" dirty="0"/>
              <a:t>Outside Sales</a:t>
            </a:r>
          </a:p>
          <a:p>
            <a:r>
              <a:rPr lang="en-US" dirty="0"/>
              <a:t>Research and Development</a:t>
            </a:r>
          </a:p>
          <a:p>
            <a:r>
              <a:rPr lang="en-US" dirty="0"/>
              <a:t>Manufacturing</a:t>
            </a:r>
          </a:p>
          <a:p>
            <a:r>
              <a:rPr lang="en-US" dirty="0"/>
              <a:t>Operations</a:t>
            </a:r>
          </a:p>
          <a:p>
            <a:pPr lvl="1"/>
            <a:r>
              <a:rPr lang="en-US" dirty="0"/>
              <a:t>Human Resources</a:t>
            </a:r>
          </a:p>
          <a:p>
            <a:pPr lvl="1"/>
            <a:r>
              <a:rPr lang="en-US" dirty="0"/>
              <a:t>Facilities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59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CE437-4B53-4B18-B65A-1E8F1ECF2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629A7-5B03-4F2C-8D68-9A9BC155E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CenturyQuest</a:t>
            </a:r>
            <a:r>
              <a:rPr lang="en-US" dirty="0"/>
              <a:t> Security Monitor</a:t>
            </a:r>
          </a:p>
          <a:p>
            <a:r>
              <a:rPr lang="en-US" dirty="0" err="1"/>
              <a:t>CenturyQuest</a:t>
            </a:r>
            <a:r>
              <a:rPr lang="en-US" dirty="0"/>
              <a:t> Total Security Package</a:t>
            </a:r>
          </a:p>
          <a:p>
            <a:r>
              <a:rPr lang="en-US" dirty="0" err="1"/>
              <a:t>CenturyQuest</a:t>
            </a:r>
            <a:r>
              <a:rPr lang="en-US" dirty="0"/>
              <a:t> Limited</a:t>
            </a:r>
          </a:p>
        </p:txBody>
      </p:sp>
    </p:spTree>
    <p:extLst>
      <p:ext uri="{BB962C8B-B14F-4D97-AF65-F5344CB8AC3E}">
        <p14:creationId xmlns:p14="http://schemas.microsoft.com/office/powerpoint/2010/main" val="696045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1347-95E5-47DE-AD83-9DE5092D5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70830-1440-4DBC-9366-4E001AEA1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Shriking</a:t>
            </a:r>
            <a:r>
              <a:rPr lang="en-US" dirty="0"/>
              <a:t> market</a:t>
            </a:r>
          </a:p>
          <a:p>
            <a:r>
              <a:rPr lang="en-US" dirty="0"/>
              <a:t>Specialty distribution channels</a:t>
            </a:r>
          </a:p>
          <a:p>
            <a:r>
              <a:rPr lang="en-US" dirty="0"/>
              <a:t>European competition</a:t>
            </a:r>
          </a:p>
        </p:txBody>
      </p:sp>
    </p:spTree>
    <p:extLst>
      <p:ext uri="{BB962C8B-B14F-4D97-AF65-F5344CB8AC3E}">
        <p14:creationId xmlns:p14="http://schemas.microsoft.com/office/powerpoint/2010/main" val="334012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FD5F7-C9B6-44C8-BF01-C4A0932ED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ADA89-AF90-422C-9562-D176FC726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will </a:t>
            </a:r>
            <a:r>
              <a:rPr lang="en-US"/>
              <a:t>be provide soon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595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EE2D1-25D2-40C0-BBB8-0941F1B1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F39A-CD35-432D-816E-1BBD2FB8E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Partner with UK distributors</a:t>
            </a:r>
          </a:p>
          <a:p>
            <a:r>
              <a:rPr lang="en-US" dirty="0"/>
              <a:t>Marketing </a:t>
            </a:r>
            <a:r>
              <a:rPr lang="en-US" dirty="0" err="1"/>
              <a:t>compaigns</a:t>
            </a:r>
            <a:r>
              <a:rPr lang="en-US" dirty="0"/>
              <a:t> in specialty publications</a:t>
            </a:r>
          </a:p>
          <a:p>
            <a:r>
              <a:rPr lang="en-US" dirty="0"/>
              <a:t>Redesign of website</a:t>
            </a:r>
          </a:p>
          <a:p>
            <a:r>
              <a:rPr lang="en-US" dirty="0"/>
              <a:t>Hire more outside sales reps</a:t>
            </a:r>
          </a:p>
        </p:txBody>
      </p:sp>
    </p:spTree>
    <p:extLst>
      <p:ext uri="{BB962C8B-B14F-4D97-AF65-F5344CB8AC3E}">
        <p14:creationId xmlns:p14="http://schemas.microsoft.com/office/powerpoint/2010/main" val="673921704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07151B"/>
      </a:dk2>
      <a:lt2>
        <a:srgbClr val="F2F3F3"/>
      </a:lt2>
      <a:accent1>
        <a:srgbClr val="1C546B"/>
      </a:accent1>
      <a:accent2>
        <a:srgbClr val="606968"/>
      </a:accent2>
      <a:accent3>
        <a:srgbClr val="8D8D35"/>
      </a:accent3>
      <a:accent4>
        <a:srgbClr val="D9A142"/>
      </a:accent4>
      <a:accent5>
        <a:srgbClr val="C47023"/>
      </a:accent5>
      <a:accent6>
        <a:srgbClr val="754D64"/>
      </a:accent6>
      <a:hlink>
        <a:srgbClr val="417E93"/>
      </a:hlink>
      <a:folHlink>
        <a:srgbClr val="A76D89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algn="ctr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12434FFF-CE4A-40FC-99FF-CA1400F2E6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Headlines</Template>
  <TotalTime>592</TotalTime>
  <Words>76</Words>
  <Application>Microsoft Office PowerPoint</Application>
  <PresentationFormat>On-screen Show (4:3)</PresentationFormat>
  <Paragraphs>34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Schoolbook</vt:lpstr>
      <vt:lpstr>Corbel</vt:lpstr>
      <vt:lpstr>Verdana</vt:lpstr>
      <vt:lpstr>Headlines</vt:lpstr>
      <vt:lpstr>ACME Corporation</vt:lpstr>
      <vt:lpstr>Agenda</vt:lpstr>
      <vt:lpstr>Divisions</vt:lpstr>
      <vt:lpstr>New Products</vt:lpstr>
      <vt:lpstr>Challenges</vt:lpstr>
      <vt:lpstr>Sales Data</vt:lpstr>
      <vt:lpstr>Strategic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Faithe Wempen</dc:creator>
  <cp:keywords>Unit 8</cp:keywords>
  <cp:lastModifiedBy>Student</cp:lastModifiedBy>
  <cp:revision>31</cp:revision>
  <dcterms:created xsi:type="dcterms:W3CDTF">2019-04-09T23:52:32Z</dcterms:created>
  <dcterms:modified xsi:type="dcterms:W3CDTF">2019-06-03T14:06:51Z</dcterms:modified>
  <cp:category>Practice</cp:category>
</cp:coreProperties>
</file>